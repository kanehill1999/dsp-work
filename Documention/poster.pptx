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>
        <p:scale>
          <a:sx n="70" d="100"/>
          <a:sy n="70" d="100"/>
        </p:scale>
        <p:origin x="32" y="-9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56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53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72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7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35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79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40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58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5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87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00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195EF-9DED-4691-9BB4-A1D9C2F0C422}" type="datetimeFigureOut">
              <a:rPr lang="en-GB" smtClean="0"/>
              <a:t>19/01/2025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75E0D-736B-422D-9AEB-65E4093DC4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49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1C79-6F4B-4FEB-8492-EC83B2E4F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585" y="12646338"/>
            <a:ext cx="8442263" cy="6516234"/>
          </a:xfrm>
        </p:spPr>
        <p:txBody>
          <a:bodyPr anchor="t">
            <a:normAutofit/>
          </a:bodyPr>
          <a:lstStyle/>
          <a:p>
            <a:pPr algn="l"/>
            <a:r>
              <a:rPr lang="en-GB" sz="3000" b="1" dirty="0"/>
              <a:t>Research:</a:t>
            </a:r>
            <a:br>
              <a:rPr lang="en-GB" sz="3000" dirty="0"/>
            </a:br>
            <a:br>
              <a:rPr lang="en-GB" sz="2400" dirty="0"/>
            </a:br>
            <a:r>
              <a:rPr lang="en-GB" sz="2400" dirty="0"/>
              <a:t>A short summary of your research providing key related works; </a:t>
            </a:r>
            <a:br>
              <a:rPr lang="en-GB" sz="2400" dirty="0"/>
            </a:br>
            <a:r>
              <a:rPr lang="en-GB" sz="2400" dirty="0"/>
              <a:t>Be critical.</a:t>
            </a:r>
            <a:br>
              <a:rPr lang="en-GB" sz="2400" dirty="0"/>
            </a:br>
            <a:r>
              <a:rPr lang="en-GB" sz="2400" dirty="0"/>
              <a:t>Use appropriate citation.</a:t>
            </a:r>
            <a:br>
              <a:rPr lang="en-GB" sz="2400" dirty="0"/>
            </a:br>
            <a:endParaRPr lang="en-GB" sz="2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0F8239-6AEA-4FD1-9BB7-1BEB81923993}"/>
              </a:ext>
            </a:extLst>
          </p:cNvPr>
          <p:cNvCxnSpPr>
            <a:cxnSpLocks/>
          </p:cNvCxnSpPr>
          <p:nvPr/>
        </p:nvCxnSpPr>
        <p:spPr>
          <a:xfrm>
            <a:off x="10463212" y="5006048"/>
            <a:ext cx="0" cy="24823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57485A6-375A-4194-9F28-8E08AA7416A8}"/>
              </a:ext>
            </a:extLst>
          </p:cNvPr>
          <p:cNvSpPr txBox="1">
            <a:spLocks/>
          </p:cNvSpPr>
          <p:nvPr/>
        </p:nvSpPr>
        <p:spPr>
          <a:xfrm>
            <a:off x="945585" y="7831532"/>
            <a:ext cx="8801432" cy="36740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Aims and objectives: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A very short description of the aims of the project and an outline of the objectives.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e.g. The project objectives are: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/>
              <a:t>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/>
              <a:t>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/>
              <a:t>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/>
              <a:t>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  <a:p>
            <a:pPr algn="l"/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CD42F-1FCA-4E70-A647-8F6C3FF9BD7F}"/>
              </a:ext>
            </a:extLst>
          </p:cNvPr>
          <p:cNvSpPr txBox="1"/>
          <p:nvPr/>
        </p:nvSpPr>
        <p:spPr>
          <a:xfrm>
            <a:off x="11352005" y="5058834"/>
            <a:ext cx="55831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dirty="0"/>
              <a:t>Design, Implementation &amp; Testing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A0DC7C8-DA0E-4819-B468-3282C1B73183}"/>
              </a:ext>
            </a:extLst>
          </p:cNvPr>
          <p:cNvSpPr txBox="1">
            <a:spLocks/>
          </p:cNvSpPr>
          <p:nvPr/>
        </p:nvSpPr>
        <p:spPr>
          <a:xfrm>
            <a:off x="945585" y="22133880"/>
            <a:ext cx="8823076" cy="78450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Key requirements: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Provide key requirements with short description if required. 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Functional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application must allow the user to switch between multiple object detection models( Faster R-CNN, YOLO)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1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system must generate image and video data predictions based on the chosen model and dataset.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application must provide LIME analysis for object detection models.</a:t>
            </a:r>
          </a:p>
          <a:p>
            <a:pPr algn="l"/>
            <a:endParaRPr lang="en-GB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application must allow </a:t>
            </a:r>
            <a:r>
              <a:rPr lang="en-US" sz="2400" dirty="0"/>
              <a:t>users to focus on specific labels in single- and multi-class</a:t>
            </a:r>
            <a:r>
              <a:rPr lang="en-GB" sz="2400" dirty="0"/>
              <a:t> object detection settings.</a:t>
            </a:r>
          </a:p>
          <a:p>
            <a:pPr algn="l"/>
            <a:endParaRPr lang="en-GB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application must provide Layer-Wise LIME for more detailed explainability.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application must allow users to focus on specific labels in single-class and multi-class detection settings</a:t>
            </a:r>
          </a:p>
          <a:p>
            <a:pPr algn="l"/>
            <a:endParaRPr lang="en-GB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Users must be able to upload and select from multiple datasets for analysis.</a:t>
            </a:r>
          </a:p>
          <a:p>
            <a:pPr algn="l"/>
            <a:endParaRPr lang="en-GB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Use should be able to save or export the generated explanations.</a:t>
            </a:r>
          </a:p>
          <a:p>
            <a:pPr algn="l"/>
            <a:endParaRPr lang="en-GB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user should be able to adjust key parameters, such as the number of perturbations in LIME or the layers to analyse in Layer-wise LIME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Non-functional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tool must have a user-friendly interface.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tool must ensure consistency in LIME and Layer-wise LIME.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tool must be able to handle errors, providing clear error messages and logs for troubleshooting.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400" dirty="0"/>
              <a:t>The tool should be compatible with both CPU and GPU environments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The tool must allow users to </a:t>
            </a:r>
            <a:r>
              <a:rPr lang="en-US" sz="2400" dirty="0" err="1"/>
              <a:t>customise</a:t>
            </a:r>
            <a:r>
              <a:rPr lang="en-US" sz="2400" dirty="0"/>
              <a:t> the </a:t>
            </a:r>
            <a:r>
              <a:rPr lang="en-US" sz="2400" dirty="0" err="1"/>
              <a:t>visualisation</a:t>
            </a:r>
            <a:r>
              <a:rPr lang="en-US" sz="2400" dirty="0"/>
              <a:t> of predictions and explanations (e.g., </a:t>
            </a:r>
            <a:r>
              <a:rPr lang="en-US" sz="2400" dirty="0" err="1"/>
              <a:t>colour</a:t>
            </a:r>
            <a:r>
              <a:rPr lang="en-US" sz="2400" dirty="0"/>
              <a:t> schemes, bounding box styles)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/>
              <a:t>The tool should maintain a consistent performance level for datasets with varying sizes </a:t>
            </a:r>
            <a:r>
              <a:rPr lang="en-US" sz="2400"/>
              <a:t>and complexities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sz="71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8C595A4-2348-4AA4-BF6A-83DD7CF7C82E}"/>
              </a:ext>
            </a:extLst>
          </p:cNvPr>
          <p:cNvSpPr txBox="1">
            <a:spLocks/>
          </p:cNvSpPr>
          <p:nvPr/>
        </p:nvSpPr>
        <p:spPr>
          <a:xfrm>
            <a:off x="11352005" y="20922009"/>
            <a:ext cx="8823076" cy="33437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Planning and Management:</a:t>
            </a:r>
            <a:br>
              <a:rPr lang="en-GB" sz="3000" dirty="0"/>
            </a:br>
            <a:br>
              <a:rPr lang="en-GB" sz="3000" dirty="0"/>
            </a:br>
            <a:r>
              <a:rPr lang="en-GB" sz="3000" dirty="0"/>
              <a:t>This section will include your planning and management.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959A7F-481B-445A-916A-EF4B2889A0EC}"/>
              </a:ext>
            </a:extLst>
          </p:cNvPr>
          <p:cNvSpPr txBox="1"/>
          <p:nvPr/>
        </p:nvSpPr>
        <p:spPr>
          <a:xfrm>
            <a:off x="11352005" y="6482351"/>
            <a:ext cx="2273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State </a:t>
            </a:r>
            <a:r>
              <a:rPr lang="en-GB" sz="2800" i="1" dirty="0"/>
              <a:t>Diagram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7BCC0A-B949-46BF-AC34-F686755B7BD5}"/>
              </a:ext>
            </a:extLst>
          </p:cNvPr>
          <p:cNvSpPr txBox="1"/>
          <p:nvPr/>
        </p:nvSpPr>
        <p:spPr>
          <a:xfrm>
            <a:off x="11352005" y="14236925"/>
            <a:ext cx="4971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/>
              <a:t>Implementation artefacts (if any)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B98C32D-D680-4B70-8F50-5A366E938BB5}"/>
              </a:ext>
            </a:extLst>
          </p:cNvPr>
          <p:cNvSpPr txBox="1">
            <a:spLocks/>
          </p:cNvSpPr>
          <p:nvPr/>
        </p:nvSpPr>
        <p:spPr>
          <a:xfrm>
            <a:off x="11352005" y="25918356"/>
            <a:ext cx="8823076" cy="33437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References:</a:t>
            </a:r>
            <a:br>
              <a:rPr lang="en-GB" sz="3000" dirty="0"/>
            </a:br>
            <a:br>
              <a:rPr lang="en-GB" sz="3000" dirty="0"/>
            </a:br>
            <a:r>
              <a:rPr lang="en-GB" sz="3000" dirty="0"/>
              <a:t>References and citations should be in UWE Harvard style</a:t>
            </a:r>
          </a:p>
          <a:p>
            <a:pPr algn="l"/>
            <a:endParaRPr lang="en-GB" sz="3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C41B35-B206-4E9B-9E1F-DC01F87130B8}"/>
              </a:ext>
            </a:extLst>
          </p:cNvPr>
          <p:cNvSpPr txBox="1"/>
          <p:nvPr/>
        </p:nvSpPr>
        <p:spPr>
          <a:xfrm>
            <a:off x="6221124" y="0"/>
            <a:ext cx="10516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UFCFXK-30-3: Digital Systems Project</a:t>
            </a:r>
          </a:p>
        </p:txBody>
      </p:sp>
      <p:pic>
        <p:nvPicPr>
          <p:cNvPr id="1030" name="Picture 6" descr="Welcome to UWE Bristol - University of the West of England ...">
            <a:extLst>
              <a:ext uri="{FF2B5EF4-FFF2-40B4-BE49-F238E27FC236}">
                <a16:creationId xmlns:a16="http://schemas.microsoft.com/office/drawing/2014/main" id="{7370A0CC-BEFB-44C1-BB15-37EED0775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7" y="0"/>
            <a:ext cx="5816411" cy="290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8A242B0-F7AF-4989-B9D6-963A97EC9DCA}"/>
              </a:ext>
            </a:extLst>
          </p:cNvPr>
          <p:cNvSpPr txBox="1"/>
          <p:nvPr/>
        </p:nvSpPr>
        <p:spPr>
          <a:xfrm>
            <a:off x="6221124" y="1218417"/>
            <a:ext cx="32544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Student name:</a:t>
            </a:r>
          </a:p>
          <a:p>
            <a:r>
              <a:rPr lang="en-GB" sz="4000" dirty="0"/>
              <a:t>Project Title: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94C326C-A49D-4051-84F8-AC2C60493B11}"/>
              </a:ext>
            </a:extLst>
          </p:cNvPr>
          <p:cNvSpPr txBox="1">
            <a:spLocks/>
          </p:cNvSpPr>
          <p:nvPr/>
        </p:nvSpPr>
        <p:spPr>
          <a:xfrm>
            <a:off x="875400" y="5058834"/>
            <a:ext cx="8801432" cy="23112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/>
              <a:t>Abstract:</a:t>
            </a:r>
          </a:p>
          <a:p>
            <a:pPr algn="l"/>
            <a:endParaRPr lang="en-GB" sz="2800" dirty="0"/>
          </a:p>
          <a:p>
            <a:pPr algn="l"/>
            <a:r>
              <a:rPr lang="en-GB" sz="2400" dirty="0"/>
              <a:t>The abstract includes a short description of the project. It should not exceed one paragraph. Ideally, it should summarise the key points of your project including the project idea and scope.</a:t>
            </a:r>
          </a:p>
        </p:txBody>
      </p:sp>
      <p:pic>
        <p:nvPicPr>
          <p:cNvPr id="1034" name="Picture 10" descr="uml event diagram ~ Jebas.us">
            <a:extLst>
              <a:ext uri="{FF2B5EF4-FFF2-40B4-BE49-F238E27FC236}">
                <a16:creationId xmlns:a16="http://schemas.microsoft.com/office/drawing/2014/main" id="{0E3DADEE-67A2-47C9-8998-3FB46D0AD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2381" y="7329312"/>
            <a:ext cx="9569576" cy="580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14955D32-845F-42C2-9B71-9A20B77AC9E2}"/>
              </a:ext>
            </a:extLst>
          </p:cNvPr>
          <p:cNvSpPr txBox="1">
            <a:spLocks/>
          </p:cNvSpPr>
          <p:nvPr/>
        </p:nvSpPr>
        <p:spPr>
          <a:xfrm>
            <a:off x="11352005" y="15317704"/>
            <a:ext cx="8442263" cy="285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dirty="0"/>
              <a:t>Can include other diagrams that verify the implementation process (e.g. class diagram etc.)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or</a:t>
            </a:r>
          </a:p>
          <a:p>
            <a:pPr algn="l"/>
            <a:endParaRPr lang="en-GB" sz="2400" dirty="0"/>
          </a:p>
          <a:p>
            <a:pPr algn="l"/>
            <a:r>
              <a:rPr lang="en-GB" sz="2400" dirty="0"/>
              <a:t>A screenshot of your GUI or ‘code output so far’ or similar</a:t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5F2CE-AF3E-4364-8883-0BF21DD12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3415" y="314181"/>
            <a:ext cx="1867161" cy="187668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17A47AE-5C5B-40E6-94CD-71DD02CAA8C3}"/>
              </a:ext>
            </a:extLst>
          </p:cNvPr>
          <p:cNvSpPr txBox="1">
            <a:spLocks/>
          </p:cNvSpPr>
          <p:nvPr/>
        </p:nvSpPr>
        <p:spPr>
          <a:xfrm>
            <a:off x="17371835" y="2284492"/>
            <a:ext cx="3950320" cy="74753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A QR Code link to your video submission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A1A87C-0B83-4900-9AF3-6D14A0817580}"/>
              </a:ext>
            </a:extLst>
          </p:cNvPr>
          <p:cNvSpPr txBox="1"/>
          <p:nvPr/>
        </p:nvSpPr>
        <p:spPr>
          <a:xfrm>
            <a:off x="11294670" y="18081029"/>
            <a:ext cx="1206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/>
              <a:t>Testing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D3D7BA1-7F0E-413D-A287-700C0A5FD274}"/>
              </a:ext>
            </a:extLst>
          </p:cNvPr>
          <p:cNvSpPr txBox="1">
            <a:spLocks/>
          </p:cNvSpPr>
          <p:nvPr/>
        </p:nvSpPr>
        <p:spPr>
          <a:xfrm>
            <a:off x="11294670" y="18613162"/>
            <a:ext cx="8442263" cy="21793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dirty="0"/>
              <a:t>Details regarding your testing strategy</a:t>
            </a:r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9369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2007</TotalTime>
  <Words>443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Research:  A short summary of your research providing key related works;  Be critical. Use appropriate citation.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Research:  Amak;lsdjas;ldkjsad #asdlkajsdlkajsd asdkajsd asdlaksjd;lkajsd salkdjaslkjd salkdjalksjd kljsadkljaslkjd</dc:title>
  <dc:creator>Theo Spyridopoulos</dc:creator>
  <cp:lastModifiedBy>Kane Hill</cp:lastModifiedBy>
  <cp:revision>57</cp:revision>
  <dcterms:created xsi:type="dcterms:W3CDTF">2017-09-13T12:36:56Z</dcterms:created>
  <dcterms:modified xsi:type="dcterms:W3CDTF">2025-01-19T19:34:16Z</dcterms:modified>
</cp:coreProperties>
</file>